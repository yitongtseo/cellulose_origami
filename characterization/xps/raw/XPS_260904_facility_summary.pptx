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52" r:id="rId2"/>
    <p:sldId id="353" r:id="rId3"/>
    <p:sldId id="357" r:id="rId4"/>
    <p:sldId id="356" r:id="rId5"/>
    <p:sldId id="355" r:id="rId6"/>
    <p:sldId id="354" r:id="rId7"/>
  </p:sldIdLst>
  <p:sldSz cx="9144000" cy="6858000" type="screen4x3"/>
  <p:notesSz cx="7077075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aFSI" id="{E66F074F-CCF7-43C5-9CC8-50827DF9C4CC}">
          <p14:sldIdLst>
            <p14:sldId id="352"/>
            <p14:sldId id="353"/>
            <p14:sldId id="357"/>
            <p14:sldId id="356"/>
            <p14:sldId id="355"/>
            <p14:sldId id="354"/>
          </p14:sldIdLst>
        </p14:section>
        <p14:section name="NaPF6" id="{91DB5721-8551-43FC-B905-34FAB54BEBA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4660"/>
  </p:normalViewPr>
  <p:slideViewPr>
    <p:cSldViewPr>
      <p:cViewPr varScale="1">
        <p:scale>
          <a:sx n="107" d="100"/>
          <a:sy n="107" d="100"/>
        </p:scale>
        <p:origin x="89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8438" y="0"/>
            <a:ext cx="306705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59813"/>
            <a:ext cx="30670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08438" y="8659813"/>
            <a:ext cx="30670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0D6D81C-677A-4564-810F-9DAC43D619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7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08438" y="0"/>
            <a:ext cx="306705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684213"/>
            <a:ext cx="4557713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330700"/>
            <a:ext cx="5661025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59813"/>
            <a:ext cx="30670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8438" y="8659813"/>
            <a:ext cx="30670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1D5177F-56A1-4E2D-8E9F-475F23248CA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827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411F9B-4705-4A57-86EF-46907997A655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MIT.nano</a:t>
            </a:r>
            <a:r>
              <a:rPr lang="en-US" dirty="0"/>
              <a:t> Surface Analysis Facility</a:t>
            </a:r>
          </a:p>
          <a:p>
            <a:r>
              <a:rPr lang="en-US" dirty="0"/>
              <a:t>PHI </a:t>
            </a:r>
            <a:r>
              <a:rPr lang="en-US" dirty="0" err="1"/>
              <a:t>VersaProbe</a:t>
            </a:r>
            <a:r>
              <a:rPr lang="en-US" dirty="0"/>
              <a:t> II XPS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F7C3A1-B530-425A-A9CC-49E97BA5C0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21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A8601C-4A07-4622-8F4D-10538DBAC41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MIT.nano</a:t>
            </a:r>
            <a:r>
              <a:rPr lang="en-US"/>
              <a:t> Surface Analysis Facility</a:t>
            </a:r>
          </a:p>
          <a:p>
            <a:r>
              <a:rPr lang="en-US"/>
              <a:t>PHI </a:t>
            </a:r>
            <a:r>
              <a:rPr lang="en-US" dirty="0" err="1"/>
              <a:t>VersaProbe</a:t>
            </a:r>
            <a:r>
              <a:rPr lang="en-US" dirty="0"/>
              <a:t> II XPS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E7646-6754-4A81-866A-04A09AF8A4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4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8E5077-204A-44CB-909D-79C210A6C82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MIT.nano</a:t>
            </a:r>
            <a:r>
              <a:rPr lang="en-US" dirty="0"/>
              <a:t> Surface Analysis Facility</a:t>
            </a:r>
          </a:p>
          <a:p>
            <a:r>
              <a:rPr lang="en-US" dirty="0"/>
              <a:t>PHI </a:t>
            </a:r>
            <a:r>
              <a:rPr lang="en-US" dirty="0" err="1"/>
              <a:t>VersaProbe</a:t>
            </a:r>
            <a:r>
              <a:rPr lang="en-US" dirty="0"/>
              <a:t> II XPS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71D741-BE65-43BC-ABD5-D762897338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1524000"/>
            <a:ext cx="2933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524000"/>
            <a:ext cx="2933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3E4861-6C56-4131-B98E-21102B7F61C7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MIT.nano</a:t>
            </a:r>
            <a:r>
              <a:rPr lang="en-US" dirty="0"/>
              <a:t> Surface Analysis Facility</a:t>
            </a:r>
          </a:p>
          <a:p>
            <a:r>
              <a:rPr lang="en-US" dirty="0"/>
              <a:t>PHI </a:t>
            </a:r>
            <a:r>
              <a:rPr lang="en-US" dirty="0" err="1"/>
              <a:t>VersaProbe</a:t>
            </a:r>
            <a:r>
              <a:rPr lang="en-US" dirty="0"/>
              <a:t> II XPS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304BE2-0FBA-4756-B5B2-F44A873B6C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6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6748DC-30CA-4439-AFEE-799024C5DDE2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MIT Materials Research Laboratory                                          PHI VersaProbe II XPS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6ABF90-5C05-4936-814E-FE71D0B627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1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C2243E-4D63-410A-987B-D510B49730E1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MIT Materials Research Laboratory                                          PHI VersaProbe II XPS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9F2325-5618-4E70-8D20-6381F7A293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6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4AD41C-4D7D-4A9A-AB94-6F48FE7AD4DD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MIT Materials Research Laboratory                                          PHI VersaProbe II XPS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88F903-E845-4E4C-9862-A651407E6C0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4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CF8B7C-BD5B-45CA-A9F7-D2B0B4F488E1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MIT Materials Research Laboratory                                          PHI VersaProbe II XPS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948BBE-3C10-4DE9-8268-91A79E2784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2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99B4E2-6F92-4FC6-8F1E-EE315BCFD3E3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MIT Materials Research Laboratory                                          PHI VersaProbe II XPS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B3462-7466-4B72-8709-54A97307A5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7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A048FB-3FE6-412B-83B9-6FF54AC27435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MIT Materials Research Laboratory                                          PHI VersaProbe II XPS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2014D3-5BD6-432B-8A24-FDE4C945B9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13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66896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194ABE-6753-471D-886F-9AC86AC1130F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MIT Materials Research Laboratory                                          PHI VersaProbe II XPS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A75C10-885F-4333-AC93-F7593F74076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2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76400" y="1524000"/>
            <a:ext cx="6019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096000"/>
            <a:ext cx="1524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1AA94250-602D-4265-B3F0-1F343D31E048}" type="datetime1">
              <a:rPr lang="en-US" smtClean="0"/>
              <a:t>9/4/2026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14600" y="609600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MIT.nano</a:t>
            </a:r>
            <a:r>
              <a:rPr lang="en-US" dirty="0"/>
              <a:t> Surface Analysis Facility</a:t>
            </a:r>
          </a:p>
          <a:p>
            <a:r>
              <a:rPr lang="en-US" dirty="0"/>
              <a:t>PHI </a:t>
            </a:r>
            <a:r>
              <a:rPr lang="en-US" dirty="0" err="1"/>
              <a:t>VersaProbe</a:t>
            </a:r>
            <a:r>
              <a:rPr lang="en-US" dirty="0"/>
              <a:t> II XPS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096000"/>
            <a:ext cx="762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EF56F68-D875-4EBE-A60A-3025E11561E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3BDD-B70F-FB8B-FB72-54022B75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points</a:t>
            </a:r>
            <a:br>
              <a:rPr lang="en-US" dirty="0"/>
            </a:br>
            <a:r>
              <a:rPr lang="en-US" dirty="0"/>
              <a:t>optical image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8282B2-EE08-AD21-BAEB-2208F58A3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97540" y="1524000"/>
            <a:ext cx="4977519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F1482-0674-2366-60B6-EB1591CD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01C-4A07-4622-8F4D-10538DBAC41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A4454-051A-BACF-2228-1DD8EFEB9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MIT.nano Surface Analysis Facility</a:t>
            </a:r>
          </a:p>
          <a:p>
            <a:r>
              <a:rPr lang="en-US"/>
              <a:t>PHI VersaProbe II XPS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EA2C-10F9-7706-AB6D-1D4EB0CB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7646-6754-4A81-866A-04A09AF8A44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6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A89E-0E54-8415-2765-BD49DDF5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spectra and atomic concentration ratios, O:C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474F6E-46DE-3BCB-B339-FDFFD0EB2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476500" y="1143000"/>
            <a:ext cx="5776947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FB3FA-B763-C8B9-86C0-471614A14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01C-4A07-4622-8F4D-10538DBAC41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1F1FF-5B9A-5A11-5C8C-0E8F666B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MIT.nano Surface Analysis Facility</a:t>
            </a:r>
          </a:p>
          <a:p>
            <a:r>
              <a:rPr lang="en-US"/>
              <a:t>PHI VersaProbe II XPS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67611-EB99-47E7-986F-5700585D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7646-6754-4A81-866A-04A09AF8A44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AB504D-A8E9-5179-6937-31E12FC3B078}"/>
              </a:ext>
            </a:extLst>
          </p:cNvPr>
          <p:cNvSpPr txBox="1"/>
          <p:nvPr/>
        </p:nvSpPr>
        <p:spPr>
          <a:xfrm>
            <a:off x="685800" y="3467894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--------------------------</a:t>
            </a:r>
          </a:p>
          <a:p>
            <a:r>
              <a:rPr lang="en-US" sz="1000" dirty="0"/>
              <a:t>Atomic Concentration Table</a:t>
            </a:r>
          </a:p>
          <a:p>
            <a:r>
              <a:rPr lang="en-US" sz="1000" dirty="0"/>
              <a:t>--------------------------</a:t>
            </a:r>
          </a:p>
          <a:p>
            <a:r>
              <a:rPr lang="en-US" sz="1000" dirty="0"/>
              <a:t>      C1s ,      O1s ,</a:t>
            </a:r>
          </a:p>
          <a:p>
            <a:r>
              <a:rPr lang="en-US" sz="1000" dirty="0"/>
              <a:t>    0.314 ,    0.733 ,  RSF </a:t>
            </a:r>
          </a:p>
          <a:p>
            <a:r>
              <a:rPr lang="en-US" sz="1000" dirty="0"/>
              <a:t>   58.600 ,  137.167 ,  </a:t>
            </a:r>
            <a:r>
              <a:rPr lang="en-US" sz="1000" dirty="0" err="1"/>
              <a:t>CorrectedRSF</a:t>
            </a:r>
            <a:r>
              <a:rPr lang="en-US" sz="1000" dirty="0"/>
              <a:t> </a:t>
            </a:r>
          </a:p>
          <a:p>
            <a:r>
              <a:rPr lang="en-US" sz="1000" dirty="0"/>
              <a:t>    76.05 ,    23.95 ,  1, Day 0</a:t>
            </a:r>
          </a:p>
          <a:p>
            <a:r>
              <a:rPr lang="en-US" sz="1000" dirty="0"/>
              <a:t>    75.55 ,    24.45 ,  2, Control</a:t>
            </a:r>
          </a:p>
          <a:p>
            <a:r>
              <a:rPr lang="en-US" sz="1000" dirty="0"/>
              <a:t>    61.45 ,    38.55 ,  3, strips </a:t>
            </a:r>
            <a:r>
              <a:rPr lang="en-US" sz="1000" dirty="0" err="1"/>
              <a:t>rect</a:t>
            </a:r>
            <a:endParaRPr lang="en-US" sz="1000" dirty="0"/>
          </a:p>
          <a:p>
            <a:r>
              <a:rPr lang="en-US" sz="1000" dirty="0"/>
              <a:t>    63.94 ,    36.06 ,  4, strips round</a:t>
            </a:r>
          </a:p>
          <a:p>
            <a:r>
              <a:rPr lang="en-US" sz="1000" dirty="0"/>
              <a:t>    62.93 ,    37.07 ,  5, 48 </a:t>
            </a:r>
            <a:r>
              <a:rPr lang="en-US" sz="1000" dirty="0" err="1"/>
              <a:t>hrs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    67.99 ,    32.01 ,  Mean </a:t>
            </a:r>
          </a:p>
          <a:p>
            <a:r>
              <a:rPr lang="en-US" sz="1000" dirty="0"/>
              <a:t>     7.19 ,     7.19 ,  Standard Deviation </a:t>
            </a:r>
          </a:p>
        </p:txBody>
      </p:sp>
    </p:spTree>
    <p:extLst>
      <p:ext uri="{BB962C8B-B14F-4D97-AF65-F5344CB8AC3E}">
        <p14:creationId xmlns:p14="http://schemas.microsoft.com/office/powerpoint/2010/main" val="375331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5A6E-D358-6CA3-A5D2-A66EC9AE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0</a:t>
            </a:r>
            <a:br>
              <a:rPr lang="en-US" dirty="0"/>
            </a:br>
            <a:r>
              <a:rPr lang="en-US" dirty="0"/>
              <a:t>C1s peak charge corrected to put dominant peak at 284.8 eV</a:t>
            </a:r>
            <a:br>
              <a:rPr lang="en-US" dirty="0"/>
            </a:br>
            <a:r>
              <a:rPr lang="en-US" dirty="0"/>
              <a:t>first pass at curve fitting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982E3-B09D-DB77-16C2-39D5050C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01C-4A07-4622-8F4D-10538DBAC41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5B800-45B1-F0FC-F02B-309648B0C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MIT.nano Surface Analysis Facility</a:t>
            </a:r>
          </a:p>
          <a:p>
            <a:r>
              <a:rPr lang="en-US"/>
              <a:t>PHI VersaProbe II XPS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A04B9-FFAC-187E-C093-9FA5B144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7646-6754-4A81-866A-04A09AF8A44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9FE2026-15F2-1C92-EA4A-25A48C14CC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76400" y="1729594"/>
            <a:ext cx="6019800" cy="4008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752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B3EF-8C78-9714-5494-AC5B7C26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</a:t>
            </a:r>
            <a:br>
              <a:rPr lang="en-US" dirty="0"/>
            </a:br>
            <a:r>
              <a:rPr lang="en-US" dirty="0"/>
              <a:t>C1s peak charge corrected to put dominant peak at 284.8 eV</a:t>
            </a:r>
            <a:br>
              <a:rPr lang="en-US" dirty="0"/>
            </a:br>
            <a:r>
              <a:rPr lang="en-US" dirty="0"/>
              <a:t>first pass at curve fitting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539523-6AF5-F5A3-CCEE-0851132C2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76400" y="1645939"/>
            <a:ext cx="6019800" cy="4175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3ED30-1A74-5635-8CAD-C1F77837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01C-4A07-4622-8F4D-10538DBAC41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2E8FB-1F0E-49D0-5279-15797361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MIT.nano Surface Analysis Facility</a:t>
            </a:r>
          </a:p>
          <a:p>
            <a:r>
              <a:rPr lang="en-US"/>
              <a:t>PHI VersaProbe II XPS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B51D5-953C-C3A1-682E-39C8C76E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7646-6754-4A81-866A-04A09AF8A44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8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C2065-96D7-D7FC-5728-CF24A5BC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48 </a:t>
            </a:r>
            <a:r>
              <a:rPr lang="en-US" dirty="0" err="1"/>
              <a:t>hrs</a:t>
            </a:r>
            <a:br>
              <a:rPr lang="en-US" dirty="0"/>
            </a:br>
            <a:r>
              <a:rPr lang="en-US" dirty="0"/>
              <a:t>C1s peak charge corrected estimated rightmost peak at 284.8 eV (before curve fitting)</a:t>
            </a:r>
            <a:br>
              <a:rPr lang="en-US" dirty="0"/>
            </a:br>
            <a:r>
              <a:rPr lang="en-US" dirty="0"/>
              <a:t>first pass at curve fitting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B7554E-C405-98E8-FE42-697FCBA92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79394" y="1524000"/>
            <a:ext cx="6013812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72F43-CFC1-C347-15B9-A51F633D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01C-4A07-4622-8F4D-10538DBAC41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021D3-1DF4-FBE2-4662-51EAE8DD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MIT.nano Surface Analysis Facility</a:t>
            </a:r>
          </a:p>
          <a:p>
            <a:r>
              <a:rPr lang="en-US"/>
              <a:t>PHI VersaProbe II XPS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3BFAA-7FA9-5688-1D6D-AB6DA887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7646-6754-4A81-866A-04A09AF8A44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4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44078-F78F-3A8F-8DC3-32043D37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O, Control and 48 </a:t>
            </a:r>
            <a:r>
              <a:rPr lang="en-US" dirty="0" err="1"/>
              <a:t>hrs</a:t>
            </a:r>
            <a:br>
              <a:rPr lang="en-US" dirty="0"/>
            </a:br>
            <a:r>
              <a:rPr lang="en-US" dirty="0"/>
              <a:t>charge corrected as commented on previous slides</a:t>
            </a:r>
            <a:br>
              <a:rPr lang="en-US" dirty="0"/>
            </a:br>
            <a:r>
              <a:rPr lang="en-US" dirty="0"/>
              <a:t>raw intensities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803263-0090-14C5-4314-008DF35A3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97826" y="1524000"/>
            <a:ext cx="5776947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8CB34-517D-933F-E159-FCA59532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01C-4A07-4622-8F4D-10538DBAC41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D0540-3BE0-2A13-BCDE-A0AF1560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MIT.nano Surface Analysis Facility</a:t>
            </a:r>
          </a:p>
          <a:p>
            <a:r>
              <a:rPr lang="en-US"/>
              <a:t>PHI VersaProbe II XPS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34F8F-EA52-4870-031D-AC59D129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7646-6754-4A81-866A-04A09AF8A44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9D4CD-32E4-7FFE-C9C4-4408345F1035}"/>
              </a:ext>
            </a:extLst>
          </p:cNvPr>
          <p:cNvSpPr txBox="1"/>
          <p:nvPr/>
        </p:nvSpPr>
        <p:spPr>
          <a:xfrm>
            <a:off x="5060174" y="3733800"/>
            <a:ext cx="4572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--------------------------</a:t>
            </a:r>
          </a:p>
          <a:p>
            <a:r>
              <a:rPr lang="en-US" sz="1000" dirty="0"/>
              <a:t>Atomic Concentration Table</a:t>
            </a:r>
          </a:p>
          <a:p>
            <a:r>
              <a:rPr lang="en-US" sz="1000" dirty="0"/>
              <a:t>--------------------------</a:t>
            </a:r>
          </a:p>
          <a:p>
            <a:r>
              <a:rPr lang="en-US" sz="1000" dirty="0"/>
              <a:t>      C1s ,      N1s ,      O1s ,</a:t>
            </a:r>
          </a:p>
          <a:p>
            <a:r>
              <a:rPr lang="en-US" sz="1000" dirty="0"/>
              <a:t>    0.314 ,    0.499 ,    0.733 ,  RSF </a:t>
            </a:r>
          </a:p>
          <a:p>
            <a:r>
              <a:rPr lang="en-US" sz="1000" dirty="0"/>
              <a:t>    4.760 ,    7.918 ,   12.211 ,  </a:t>
            </a:r>
            <a:r>
              <a:rPr lang="en-US" sz="1000" dirty="0" err="1"/>
              <a:t>CorrectedRSF</a:t>
            </a:r>
            <a:r>
              <a:rPr lang="en-US" sz="1000" dirty="0"/>
              <a:t> </a:t>
            </a:r>
          </a:p>
          <a:p>
            <a:r>
              <a:rPr lang="en-US" sz="1000" dirty="0"/>
              <a:t>    73.31 ,     4.05 ,    22.64 ,  1, Day 0v</a:t>
            </a:r>
          </a:p>
          <a:p>
            <a:r>
              <a:rPr lang="en-US" sz="1000" dirty="0"/>
              <a:t>    72.67 ,     3.80 ,    23.53 ,  2, Control</a:t>
            </a:r>
          </a:p>
          <a:p>
            <a:r>
              <a:rPr lang="en-US" sz="1000" dirty="0"/>
              <a:t>    58.55 ,     7.17 ,    34.27 ,  5, 48 </a:t>
            </a:r>
            <a:r>
              <a:rPr lang="en-US" sz="1000" dirty="0" err="1"/>
              <a:t>hr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    68.18 ,     5.01 ,    26.82 ,  Mean </a:t>
            </a:r>
          </a:p>
          <a:p>
            <a:r>
              <a:rPr lang="en-US" sz="1000" dirty="0"/>
              <a:t>     8.34 ,     1.88 ,     6.47 ,  Standard Deviation 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3149427"/>
      </p:ext>
    </p:extLst>
  </p:cSld>
  <p:clrMapOvr>
    <a:masterClrMapping/>
  </p:clrMapOvr>
</p:sld>
</file>

<file path=ppt/theme/theme1.xml><?xml version="1.0" encoding="utf-8"?>
<a:theme xmlns:a="http://schemas.openxmlformats.org/drawingml/2006/main" name="PHI Versaprobe Template">
  <a:themeElements>
    <a:clrScheme name="CMS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MSE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MS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MSE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MSE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MSE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MSE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MSE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MSE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MSE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MSE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MSE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MSE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MSE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HI Versaprobe Powerpoint Template.potx" id="{600FF320-2620-433A-A3FA-A4AA1C6F8C22}" vid="{B823363F-B332-4348-8184-4DD9E20DB05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PHI Versaprobe Powerpoint Template</Template>
  <TotalTime>103</TotalTime>
  <Words>327</Words>
  <Application>Microsoft Office PowerPoint</Application>
  <PresentationFormat>On-screen Show (4:3)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PHI Versaprobe Template</vt:lpstr>
      <vt:lpstr>Analysis points optical image</vt:lpstr>
      <vt:lpstr>Survey spectra and atomic concentration ratios, O:C</vt:lpstr>
      <vt:lpstr>Day 0 C1s peak charge corrected to put dominant peak at 284.8 eV first pass at curve fitting </vt:lpstr>
      <vt:lpstr>Control C1s peak charge corrected to put dominant peak at 284.8 eV first pass at curve fitting </vt:lpstr>
      <vt:lpstr>48 hrs C1s peak charge corrected estimated rightmost peak at 284.8 eV (before curve fitting) first pass at curve fitting </vt:lpstr>
      <vt:lpstr>Day O, Control and 48 hrs charge corrected as commented on previous slides raw intensities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Libby Shaw</dc:creator>
  <cp:lastModifiedBy>Libby Shaw</cp:lastModifiedBy>
  <cp:revision>3</cp:revision>
  <dcterms:created xsi:type="dcterms:W3CDTF">2026-09-04T19:52:05Z</dcterms:created>
  <dcterms:modified xsi:type="dcterms:W3CDTF">2026-09-04T21:35:13Z</dcterms:modified>
</cp:coreProperties>
</file>